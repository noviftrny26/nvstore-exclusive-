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C9A962"/>
                </a:solidFill>
              </a:defRPr>
            </a:pPr>
            <a:r>
              <a:t>NVStore Exclusive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Web3 Luxury Marketplace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0A0A0"/>
                </a:solidFill>
              </a:defRPr>
            </a:pPr>
            <a:r>
              <a:t>Premium Designer Bags Marketplace on Solana Blockchain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0" y="4754880"/>
            <a:ext cx="7589520" cy="548640"/>
          </a:xfrm>
          <a:prstGeom prst="round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D0D0D"/>
                </a:solidFill>
              </a:defRPr>
            </a:pPr>
            <a:r>
              <a:t>Live Demo: https://nvstore-exclusive.vercel.app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669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0A0A0"/>
                </a:solidFill>
              </a:defRPr>
            </a:pPr>
            <a:r>
              <a:t>Tech Stack: Next.js 14 | TypeScript | Tailwind CSS | Solana Web3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C9A962"/>
                </a:solidFill>
              </a:defRPr>
            </a:pPr>
            <a: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Apa itu NVStore Exclusive?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9202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0A0A0"/>
                </a:solidFill>
              </a:defRPr>
            </a:pPr>
            <a:r>
              <a:t>NVStore Exclusive adalah marketplace e-commerce Web3 untuk jual-beli tas designer mewah premium dengan pembayaran menggunakan cryptocurrency Solana (SOL).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2743200"/>
          <a:ext cx="73152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</a:tblGrid>
              <a:tr h="42672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C9A962"/>
                          </a:solidFill>
                        </a:defRPr>
                      </a:pPr>
                      <a:r>
                        <a:t>Fitur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C9A962"/>
                          </a:solidFill>
                        </a:defRPr>
                      </a:pPr>
                      <a:r>
                        <a:t>Keterangan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Product Catalog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12+ tas designer premium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Crypto Payment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Pembayaran dengan SOL/SPL Token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Wallet Integration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Phantom, Solflare, Coinbase, Ledger, Torus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Shopping Cart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Full-featured cart dengan localStorage persistence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Responsive Design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Mobile-first approach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0" y="2743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Brand yang Tersedia: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3200400"/>
            <a:ext cx="3474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A0A0A0"/>
                </a:solidFill>
              </a:defRPr>
            </a:pPr>
            <a:r>
              <a:t>  Gucci</a:t>
            </a:r>
          </a:p>
          <a:p>
            <a:pPr>
              <a:spcAft>
                <a:spcPts val="800"/>
              </a:spcAft>
              <a:defRPr sz="1400">
                <a:solidFill>
                  <a:srgbClr val="A0A0A0"/>
                </a:solidFill>
              </a:defRPr>
            </a:pPr>
            <a:r>
              <a:t>  Louis Vuitton</a:t>
            </a:r>
          </a:p>
          <a:p>
            <a:pPr>
              <a:spcAft>
                <a:spcPts val="800"/>
              </a:spcAft>
              <a:defRPr sz="1400">
                <a:solidFill>
                  <a:srgbClr val="A0A0A0"/>
                </a:solidFill>
              </a:defRPr>
            </a:pPr>
            <a:r>
              <a:t>  Prada</a:t>
            </a:r>
          </a:p>
          <a:p>
            <a:pPr>
              <a:spcAft>
                <a:spcPts val="800"/>
              </a:spcAft>
              <a:defRPr sz="1400">
                <a:solidFill>
                  <a:srgbClr val="A0A0A0"/>
                </a:solidFill>
              </a:defRPr>
            </a:pPr>
            <a:r>
              <a:t>  Hermes</a:t>
            </a:r>
          </a:p>
          <a:p>
            <a:pPr>
              <a:spcAft>
                <a:spcPts val="800"/>
              </a:spcAft>
              <a:defRPr sz="1400">
                <a:solidFill>
                  <a:srgbClr val="A0A0A0"/>
                </a:solidFill>
              </a:defRPr>
            </a:pPr>
            <a:r>
              <a:t>  Chanel</a:t>
            </a:r>
          </a:p>
          <a:p>
            <a:pPr>
              <a:spcAft>
                <a:spcPts val="800"/>
              </a:spcAft>
              <a:defRPr sz="1400">
                <a:solidFill>
                  <a:srgbClr val="A0A0A0"/>
                </a:solidFill>
              </a:defRPr>
            </a:pPr>
            <a:r>
              <a:t>  Dior</a:t>
            </a:r>
          </a:p>
          <a:p>
            <a:pPr>
              <a:spcAft>
                <a:spcPts val="800"/>
              </a:spcAft>
              <a:defRPr sz="1400">
                <a:solidFill>
                  <a:srgbClr val="A0A0A0"/>
                </a:solidFill>
              </a:defRPr>
            </a:pPr>
            <a:r>
              <a:t>  Balenciaga</a:t>
            </a:r>
          </a:p>
          <a:p>
            <a:pPr>
              <a:spcAft>
                <a:spcPts val="800"/>
              </a:spcAft>
              <a:defRPr sz="1400">
                <a:solidFill>
                  <a:srgbClr val="A0A0A0"/>
                </a:solidFill>
              </a:defRPr>
            </a:pPr>
            <a:r>
              <a:t>  Bottega Veneta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C9A962"/>
                </a:solidFill>
              </a:defRPr>
            </a:pPr>
            <a:r>
              <a:t>Technology Stack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09728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4572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C9A962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C9A962"/>
                          </a:solidFill>
                        </a:defRPr>
                      </a:pPr>
                      <a:r>
                        <a:t>Technology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C9A962"/>
                          </a:solidFill>
                        </a:defRPr>
                      </a:pPr>
                      <a:r>
                        <a:t>Details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Frontend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Next.js 14.1.4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App Router, Server Components, SSG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Language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TypeScript 5.4.2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Strict Type Checking, Full Type Safety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Styling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Tailwind CSS 3.4.1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Custom Colors, Animations, Responsive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Blockchain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@solana/web3.js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Blockchain interaction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Wallet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@solana/wallet-adapter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Multi-wallet support (Phantom, Solflare, dll)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Icons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Lucide React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Modern icon library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4754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Wallet Integration Example: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2064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Courier New"/>
              </a:defRPr>
            </a:pPr>
            <a:r>
              <a:t>import { WalletProvider } from '@solana/wallet-adapter-react';</a:t>
            </a:r>
          </a:p>
          <a:p>
            <a:pPr>
              <a:defRPr sz="1100">
                <a:solidFill>
                  <a:srgbClr val="FFFFFF"/>
                </a:solidFill>
                <a:latin typeface="Courier New"/>
              </a:defRPr>
            </a:pPr>
            <a:r>
              <a:t>import { PhantomWalletAdapter } from '@solana/wallet-adapter-wallets';</a:t>
            </a:r>
          </a:p>
          <a:p>
            <a:pPr>
              <a:defRPr sz="1100">
                <a:solidFill>
                  <a:srgbClr val="FFFFFF"/>
                </a:solidFill>
                <a:latin typeface="Courier New"/>
              </a:defRPr>
            </a:pPr>
          </a:p>
          <a:p>
            <a:pPr>
              <a:defRPr sz="1100">
                <a:solidFill>
                  <a:srgbClr val="FFFFFF"/>
                </a:solidFill>
                <a:latin typeface="Courier New"/>
              </a:defRPr>
            </a:pPr>
            <a:r>
              <a:t>const wallets = [new PhantomWalletAdapter()];</a:t>
            </a:r>
          </a:p>
          <a:p>
            <a:pPr>
              <a:defRPr sz="1100">
                <a:solidFill>
                  <a:srgbClr val="FFFFFF"/>
                </a:solidFill>
                <a:latin typeface="Courier New"/>
              </a:defRPr>
            </a:pPr>
            <a:r>
              <a:t>&lt;WalletProvider wallets={wallets} autoConnect&gt;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C9A962"/>
                </a:solidFill>
              </a:defRPr>
            </a:pPr>
            <a:r>
              <a:t>Design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Color Palette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828800"/>
          <a:ext cx="50292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400"/>
                <a:gridCol w="1676400"/>
                <a:gridCol w="1676400"/>
              </a:tblGrid>
              <a:tr h="3657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C9A962"/>
                          </a:solidFill>
                        </a:defRPr>
                      </a:pPr>
                      <a:r>
                        <a:t>Color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C9A962"/>
                          </a:solidFill>
                        </a:defRPr>
                      </a:pPr>
                      <a:r>
                        <a:t>Hex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C9A962"/>
                          </a:solidFill>
                        </a:defRPr>
                      </a:pPr>
                      <a:r>
                        <a:t>Usage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Primary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#0D0D0D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Deep Black - Main background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Secondary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#1A1A1A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Charcoal - Card backgrounds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Accent Gold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#C9A962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Luxury Gold - Primary accent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Accent Rose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#E8D4B8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Champagne - Secondary accent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Text Primary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#FFFFFF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White - Main text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Text Secondary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#A0A0A0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Gray - Muted text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Typography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0" y="1828800"/>
          <a:ext cx="54864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4114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C9A962"/>
                          </a:solidFill>
                        </a:defRPr>
                      </a:pPr>
                      <a:r>
                        <a:t>Font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C9A962"/>
                          </a:solidFill>
                        </a:defRPr>
                      </a:pPr>
                      <a:r>
                        <a:t>Family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C9A962"/>
                          </a:solidFill>
                        </a:defRPr>
                      </a:pPr>
                      <a:r>
                        <a:t>Usage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Playfair Display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Serif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Headings - Elegant luxury feel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Inter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Sans-serif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Body text - Modern readability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Space Grotesk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Monospace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Prices, crypto amounts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43600" y="3657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Design Philosophy: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402336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A0A0A0"/>
                </a:solidFill>
              </a:defRPr>
            </a:pPr>
            <a:r>
              <a:t>  Luxury Minimalist + Web3 Futuristic</a:t>
            </a:r>
          </a:p>
          <a:p>
            <a:pPr>
              <a:spcAft>
                <a:spcPts val="800"/>
              </a:spcAft>
              <a:defRPr sz="1400">
                <a:solidFill>
                  <a:srgbClr val="A0A0A0"/>
                </a:solidFill>
              </a:defRPr>
            </a:pPr>
            <a:r>
              <a:t>  Glassmorphism cards dengan backdrop-blur</a:t>
            </a:r>
          </a:p>
          <a:p>
            <a:pPr>
              <a:spcAft>
                <a:spcPts val="800"/>
              </a:spcAft>
              <a:defRPr sz="1400">
                <a:solidFill>
                  <a:srgbClr val="A0A0A0"/>
                </a:solidFill>
              </a:defRPr>
            </a:pPr>
            <a:r>
              <a:t>  Gradient borders on hover</a:t>
            </a:r>
          </a:p>
          <a:p>
            <a:pPr>
              <a:spcAft>
                <a:spcPts val="800"/>
              </a:spcAft>
              <a:defRPr sz="1400">
                <a:solidFill>
                  <a:srgbClr val="A0A0A0"/>
                </a:solidFill>
              </a:defRPr>
            </a:pPr>
            <a:r>
              <a:t>  Smooth 60fps animations</a:t>
            </a:r>
          </a:p>
          <a:p>
            <a:pPr>
              <a:spcAft>
                <a:spcPts val="800"/>
              </a:spcAft>
              <a:defRPr sz="1400">
                <a:solidFill>
                  <a:srgbClr val="A0A0A0"/>
                </a:solidFill>
              </a:defRPr>
            </a:pPr>
            <a:r>
              <a:t>  Dark mode primary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C9A962"/>
                </a:solidFill>
              </a:defRPr>
            </a:pPr>
            <a:r>
              <a:t>Project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Courier New"/>
              </a:defRPr>
            </a:pPr>
            <a:r>
              <a:t>nvstore-exclusive/</a:t>
            </a:r>
          </a:p>
          <a:p>
            <a:pPr>
              <a:defRPr sz="1000">
                <a:solidFill>
                  <a:srgbClr val="FFFFFF"/>
                </a:solidFill>
                <a:latin typeface="Courier New"/>
              </a:defRPr>
            </a:pPr>
            <a:r>
              <a:t>  src/</a:t>
            </a:r>
          </a:p>
          <a:p>
            <a:pPr>
              <a:defRPr sz="1000">
                <a:solidFill>
                  <a:srgbClr val="FFFFFF"/>
                </a:solidFill>
                <a:latin typeface="Courier New"/>
              </a:defRPr>
            </a:pPr>
            <a:r>
              <a:t>    app/</a:t>
            </a:r>
          </a:p>
          <a:p>
            <a:pPr>
              <a:defRPr sz="1000">
                <a:solidFill>
                  <a:srgbClr val="FFFFFF"/>
                </a:solidFill>
                <a:latin typeface="Courier New"/>
              </a:defRPr>
            </a:pPr>
            <a:r>
              <a:t>      layout.tsx          # Root layout dengan providers</a:t>
            </a:r>
          </a:p>
          <a:p>
            <a:pPr>
              <a:defRPr sz="1000">
                <a:solidFill>
                  <a:srgbClr val="FFFFFF"/>
                </a:solidFill>
                <a:latin typeface="Courier New"/>
              </a:defRPr>
            </a:pPr>
            <a:r>
              <a:t>      page.tsx            # Homepage utama</a:t>
            </a:r>
          </a:p>
          <a:p>
            <a:pPr>
              <a:defRPr sz="1000">
                <a:solidFill>
                  <a:srgbClr val="FFFFFF"/>
                </a:solidFill>
                <a:latin typeface="Courier New"/>
              </a:defRPr>
            </a:pPr>
            <a:r>
              <a:t>      globals.css         # Global styles &amp; Tailwind</a:t>
            </a:r>
          </a:p>
          <a:p>
            <a:pPr>
              <a:defRPr sz="1000">
                <a:solidFill>
                  <a:srgbClr val="FFFFFF"/>
                </a:solidFill>
                <a:latin typeface="Courier New"/>
              </a:defRPr>
            </a:pPr>
            <a:r>
              <a:t>    components/</a:t>
            </a:r>
          </a:p>
          <a:p>
            <a:pPr>
              <a:defRPr sz="1000">
                <a:solidFill>
                  <a:srgbClr val="FFFFFF"/>
                </a:solidFill>
                <a:latin typeface="Courier New"/>
              </a:defRPr>
            </a:pPr>
            <a:r>
              <a:t>      Header.tsx          # Navigation header</a:t>
            </a:r>
          </a:p>
          <a:p>
            <a:pPr>
              <a:defRPr sz="1000">
                <a:solidFill>
                  <a:srgbClr val="FFFFFF"/>
                </a:solidFill>
                <a:latin typeface="Courier New"/>
              </a:defRPr>
            </a:pPr>
            <a:r>
              <a:t>      Hero.tsx            # Hero section</a:t>
            </a:r>
          </a:p>
          <a:p>
            <a:pPr>
              <a:defRPr sz="1000">
                <a:solidFill>
                  <a:srgbClr val="FFFFFF"/>
                </a:solidFill>
                <a:latin typeface="Courier New"/>
              </a:defRPr>
            </a:pPr>
            <a:r>
              <a:t>      Categories.tsx       # Brand categories</a:t>
            </a:r>
          </a:p>
          <a:p>
            <a:pPr>
              <a:defRPr sz="1000">
                <a:solidFill>
                  <a:srgbClr val="FFFFFF"/>
                </a:solidFill>
                <a:latin typeface="Courier New"/>
              </a:defRPr>
            </a:pPr>
            <a:r>
              <a:t>      ProductGrid.tsx      # Product listing</a:t>
            </a:r>
          </a:p>
          <a:p>
            <a:pPr>
              <a:defRPr sz="1000">
                <a:solidFill>
                  <a:srgbClr val="FFFFFF"/>
                </a:solidFill>
                <a:latin typeface="Courier New"/>
              </a:defRPr>
            </a:pPr>
            <a:r>
              <a:t>      ProductCard.tsx      # Individual product card</a:t>
            </a:r>
          </a:p>
          <a:p>
            <a:pPr>
              <a:defRPr sz="1000">
                <a:solidFill>
                  <a:srgbClr val="FFFFFF"/>
                </a:solidFill>
                <a:latin typeface="Courier New"/>
              </a:defRPr>
            </a:pPr>
            <a:r>
              <a:t>      ProductModal.tsx     # Product detail modal</a:t>
            </a:r>
          </a:p>
          <a:p>
            <a:pPr>
              <a:defRPr sz="1000">
                <a:solidFill>
                  <a:srgbClr val="FFFFFF"/>
                </a:solidFill>
                <a:latin typeface="Courier New"/>
              </a:defRPr>
            </a:pPr>
            <a:r>
              <a:t>      Cart.tsx             # Cart sidebar</a:t>
            </a:r>
          </a:p>
          <a:p>
            <a:pPr>
              <a:defRPr sz="1000">
                <a:solidFill>
                  <a:srgbClr val="FFFFFF"/>
                </a:solidFill>
                <a:latin typeface="Courier New"/>
              </a:defRPr>
            </a:pPr>
            <a:r>
              <a:t>      CartItem.tsx         # Cart item component</a:t>
            </a:r>
          </a:p>
          <a:p>
            <a:pPr>
              <a:defRPr sz="1000">
                <a:solidFill>
                  <a:srgbClr val="FFFFFF"/>
                </a:solidFill>
                <a:latin typeface="Courier New"/>
              </a:defRPr>
            </a:pPr>
            <a:r>
              <a:t>      WalletButton.tsx     # Wallet connection button</a:t>
            </a:r>
          </a:p>
          <a:p>
            <a:pPr>
              <a:defRPr sz="1000">
                <a:solidFill>
                  <a:srgbClr val="FFFFFF"/>
                </a:solidFill>
                <a:latin typeface="Courier New"/>
              </a:defRPr>
            </a:pPr>
            <a:r>
              <a:t>      CheckoutModal.tsx    # Checkout flow</a:t>
            </a:r>
          </a:p>
          <a:p>
            <a:pPr>
              <a:defRPr sz="1000">
                <a:solidFill>
                  <a:srgbClr val="FFFFFF"/>
                </a:solidFill>
                <a:latin typeface="Courier New"/>
              </a:defRPr>
            </a:pPr>
            <a:r>
              <a:t>      Footer.tsx           # Footer section</a:t>
            </a:r>
          </a:p>
          <a:p>
            <a:pPr>
              <a:defRPr sz="1000">
                <a:solidFill>
                  <a:srgbClr val="FFFFFF"/>
                </a:solidFill>
                <a:latin typeface="Courier New"/>
              </a:defRPr>
            </a:pPr>
            <a:r>
              <a:t>      ui/                  # Reusable UI components</a:t>
            </a:r>
          </a:p>
          <a:p>
            <a:pPr>
              <a:defRPr sz="1000">
                <a:solidFill>
                  <a:srgbClr val="FFFFFF"/>
                </a:solidFill>
                <a:latin typeface="Courier New"/>
              </a:defRPr>
            </a:pPr>
            <a:r>
              <a:t>    context/</a:t>
            </a:r>
          </a:p>
          <a:p>
            <a:pPr>
              <a:defRPr sz="1000">
                <a:solidFill>
                  <a:srgbClr val="FFFFFF"/>
                </a:solidFill>
                <a:latin typeface="Courier New"/>
              </a:defRPr>
            </a:pPr>
            <a:r>
              <a:t>      WalletContext.tsx    # Wallet state management</a:t>
            </a:r>
          </a:p>
          <a:p>
            <a:pPr>
              <a:defRPr sz="1000">
                <a:solidFill>
                  <a:srgbClr val="FFFFFF"/>
                </a:solidFill>
                <a:latin typeface="Courier New"/>
              </a:defRPr>
            </a:pPr>
            <a:r>
              <a:t>      CartContext.tsx       # Cart state management</a:t>
            </a:r>
          </a:p>
          <a:p>
            <a:pPr>
              <a:defRPr sz="1000">
                <a:solidFill>
                  <a:srgbClr val="FFFFFF"/>
                </a:solidFill>
                <a:latin typeface="Courier New"/>
              </a:defRPr>
            </a:pPr>
            <a:r>
              <a:t>    data/</a:t>
            </a:r>
          </a:p>
          <a:p>
            <a:pPr>
              <a:defRPr sz="1000">
                <a:solidFill>
                  <a:srgbClr val="FFFFFF"/>
                </a:solidFill>
                <a:latin typeface="Courier New"/>
              </a:defRPr>
            </a:pPr>
            <a:r>
              <a:t>      products.ts          # Product catalog data</a:t>
            </a:r>
          </a:p>
          <a:p>
            <a:pPr>
              <a:defRPr sz="1000">
                <a:solidFill>
                  <a:srgbClr val="FFFFFF"/>
                </a:solidFill>
                <a:latin typeface="Courier New"/>
              </a:defRPr>
            </a:pPr>
            <a:r>
              <a:t>    types/</a:t>
            </a:r>
          </a:p>
          <a:p>
            <a:pPr>
              <a:defRPr sz="1000">
                <a:solidFill>
                  <a:srgbClr val="FFFFFF"/>
                </a:solidFill>
                <a:latin typeface="Courier New"/>
              </a:defRPr>
            </a:pPr>
            <a:r>
              <a:t>      index.ts            # TypeScript interfaces</a:t>
            </a:r>
          </a:p>
          <a:p>
            <a:pPr>
              <a:defRPr sz="1000">
                <a:solidFill>
                  <a:srgbClr val="FFFFFF"/>
                </a:solidFill>
                <a:latin typeface="Courier New"/>
              </a:defRPr>
            </a:pPr>
            <a:r>
              <a:t>    lib/</a:t>
            </a:r>
          </a:p>
          <a:p>
            <a:pPr>
              <a:defRPr sz="1000">
                <a:solidFill>
                  <a:srgbClr val="FFFFFF"/>
                </a:solidFill>
                <a:latin typeface="Courier New"/>
              </a:defRPr>
            </a:pPr>
            <a:r>
              <a:t>      format.ts            # Utility functions</a:t>
            </a:r>
          </a:p>
          <a:p>
            <a:pPr>
              <a:defRPr sz="1000">
                <a:solidFill>
                  <a:srgbClr val="FFFFFF"/>
                </a:solidFill>
                <a:latin typeface="Courier New"/>
              </a:defRPr>
            </a:pPr>
            <a:r>
              <a:t>  public/                  # Static assets</a:t>
            </a:r>
          </a:p>
          <a:p>
            <a:pPr>
              <a:defRPr sz="1000">
                <a:solidFill>
                  <a:srgbClr val="FFFFFF"/>
                </a:solidFill>
                <a:latin typeface="Courier New"/>
              </a:defRPr>
            </a:pPr>
            <a:r>
              <a:t>  package.json</a:t>
            </a:r>
          </a:p>
          <a:p>
            <a:pPr>
              <a:defRPr sz="1000">
                <a:solidFill>
                  <a:srgbClr val="FFFFFF"/>
                </a:solidFill>
                <a:latin typeface="Courier New"/>
              </a:defRPr>
            </a:pPr>
            <a:r>
              <a:t>  tailwind.config.js      # Tailwind customization</a:t>
            </a:r>
          </a:p>
          <a:p>
            <a:pPr>
              <a:defRPr sz="1000">
                <a:solidFill>
                  <a:srgbClr val="FFFFFF"/>
                </a:solidFill>
                <a:latin typeface="Courier New"/>
              </a:defRPr>
            </a:pPr>
            <a:r>
              <a:t>  tsconfig.json</a:t>
            </a:r>
          </a:p>
          <a:p>
            <a:pPr>
              <a:defRPr sz="1000">
                <a:solidFill>
                  <a:srgbClr val="FFFFFF"/>
                </a:solidFill>
                <a:latin typeface="Courier New"/>
              </a:defRPr>
            </a:pPr>
            <a:r>
              <a:t>  SPEC.md                 # Project specification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C9A962"/>
                </a:solidFill>
              </a:defRPr>
            </a:pPr>
            <a:r>
              <a:t>Key Components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9A962"/>
                </a:solidFill>
              </a:defRPr>
            </a:pPr>
            <a:r>
              <a:t>1. Header Component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3736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A0A0A0"/>
                </a:solidFill>
              </a:defRPr>
            </a:pPr>
            <a:r>
              <a:t>  Fixed position, transparent to solid on scroll</a:t>
            </a:r>
          </a:p>
          <a:p>
            <a:pPr>
              <a:spcAft>
                <a:spcPts val="800"/>
              </a:spcAft>
              <a:defRPr sz="1200">
                <a:solidFill>
                  <a:srgbClr val="A0A0A0"/>
                </a:solidFill>
              </a:defRPr>
            </a:pPr>
            <a:r>
              <a:t>  Logo + Navigation menu</a:t>
            </a:r>
          </a:p>
          <a:p>
            <a:pPr>
              <a:spcAft>
                <a:spcPts val="800"/>
              </a:spcAft>
              <a:defRPr sz="1200">
                <a:solidFill>
                  <a:srgbClr val="A0A0A0"/>
                </a:solidFill>
              </a:defRPr>
            </a:pPr>
            <a:r>
              <a:t>  Wallet connection button</a:t>
            </a:r>
          </a:p>
          <a:p>
            <a:pPr>
              <a:spcAft>
                <a:spcPts val="800"/>
              </a:spcAft>
              <a:defRPr sz="1200">
                <a:solidFill>
                  <a:srgbClr val="A0A0A0"/>
                </a:solidFill>
              </a:defRPr>
            </a:pPr>
            <a:r>
              <a:t>  Cart icon dengan item count badge</a:t>
            </a:r>
          </a:p>
          <a:p>
            <a:pPr>
              <a:spcAft>
                <a:spcPts val="800"/>
              </a:spcAft>
              <a:defRPr sz="1200">
                <a:solidFill>
                  <a:srgbClr val="A0A0A0"/>
                </a:solidFill>
              </a:defRPr>
            </a:pPr>
            <a:r>
              <a:t>  Mobile responsive hamburger menu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9A962"/>
                </a:solidFill>
              </a:defRPr>
            </a:pPr>
            <a:r>
              <a:t>2. Hero Section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56616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A0A0A0"/>
                </a:solidFill>
              </a:defRPr>
            </a:pPr>
            <a:r>
              <a:t>  Full viewport height</a:t>
            </a:r>
          </a:p>
          <a:p>
            <a:pPr>
              <a:spcAft>
                <a:spcPts val="800"/>
              </a:spcAft>
              <a:defRPr sz="1200">
                <a:solidFill>
                  <a:srgbClr val="A0A0A0"/>
                </a:solidFill>
              </a:defRPr>
            </a:pPr>
            <a:r>
              <a:t>  Animated background gradient</a:t>
            </a:r>
          </a:p>
          <a:p>
            <a:pPr>
              <a:spcAft>
                <a:spcPts val="800"/>
              </a:spcAft>
              <a:defRPr sz="1200">
                <a:solidFill>
                  <a:srgbClr val="A0A0A0"/>
                </a:solidFill>
              </a:defRPr>
            </a:pPr>
            <a:r>
              <a:t>  Featured product showcase</a:t>
            </a:r>
          </a:p>
          <a:p>
            <a:pPr>
              <a:spcAft>
                <a:spcPts val="800"/>
              </a:spcAft>
              <a:defRPr sz="1200">
                <a:solidFill>
                  <a:srgbClr val="A0A0A0"/>
                </a:solidFill>
              </a:defRPr>
            </a:pPr>
            <a:r>
              <a:t>  CTA buttons (Shop Now, Connect Wallet)</a:t>
            </a:r>
          </a:p>
          <a:p>
            <a:pPr>
              <a:spcAft>
                <a:spcPts val="800"/>
              </a:spcAft>
              <a:defRPr sz="1200">
                <a:solidFill>
                  <a:srgbClr val="A0A0A0"/>
                </a:solidFill>
              </a:defRPr>
            </a:pPr>
            <a:r>
              <a:t>  Floating particles animation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12801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9A962"/>
                </a:solidFill>
              </a:defRPr>
            </a:pPr>
            <a:r>
              <a:t>3. Product Components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737360"/>
            <a:ext cx="5669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A0A0A0"/>
                </a:solidFill>
              </a:defRPr>
            </a:pPr>
            <a:r>
              <a:t>  ProductGrid: Responsive grid (1-4 columns)</a:t>
            </a:r>
          </a:p>
          <a:p>
            <a:pPr>
              <a:spcAft>
                <a:spcPts val="800"/>
              </a:spcAft>
              <a:defRPr sz="1200">
                <a:solidFill>
                  <a:srgbClr val="A0A0A0"/>
                </a:solidFill>
              </a:defRPr>
            </a:pPr>
            <a:r>
              <a:t>  Brand filter, Price sort, Search</a:t>
            </a:r>
          </a:p>
          <a:p>
            <a:pPr>
              <a:spcAft>
                <a:spcPts val="800"/>
              </a:spcAft>
              <a:defRPr sz="1200">
                <a:solidFill>
                  <a:srgbClr val="A0A0A0"/>
                </a:solidFill>
              </a:defRPr>
            </a:pPr>
            <a:r>
              <a:t>  ProductCard: Hover zoom effect</a:t>
            </a:r>
          </a:p>
          <a:p>
            <a:pPr>
              <a:spcAft>
                <a:spcPts val="800"/>
              </a:spcAft>
              <a:defRPr sz="1200">
                <a:solidFill>
                  <a:srgbClr val="A0A0A0"/>
                </a:solidFill>
              </a:defRPr>
            </a:pPr>
            <a:r>
              <a:t>  Price in SOL &amp; USD</a:t>
            </a:r>
          </a:p>
          <a:p>
            <a:pPr>
              <a:spcAft>
                <a:spcPts val="800"/>
              </a:spcAft>
              <a:defRPr sz="1200">
                <a:solidFill>
                  <a:srgbClr val="A0A0A0"/>
                </a:solidFill>
              </a:defRPr>
            </a:pPr>
            <a:r>
              <a:t>  ProductModal: Full-screen overlay</a:t>
            </a:r>
          </a:p>
          <a:p>
            <a:pPr>
              <a:spcAft>
                <a:spcPts val="800"/>
              </a:spcAft>
              <a:defRPr sz="1200">
                <a:solidFill>
                  <a:srgbClr val="A0A0A0"/>
                </a:solidFill>
              </a:defRPr>
            </a:pPr>
            <a:r>
              <a:t>  Image gallery, Quantity selector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3657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9A962"/>
                </a:solidFill>
              </a:defRPr>
            </a:pPr>
            <a:r>
              <a:t>4. Cart Components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4114800"/>
            <a:ext cx="5669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A0A0A0"/>
                </a:solidFill>
              </a:defRPr>
            </a:pPr>
            <a:r>
              <a:t>  Slide-in from right</a:t>
            </a:r>
          </a:p>
          <a:p>
            <a:pPr>
              <a:spcAft>
                <a:spcPts val="800"/>
              </a:spcAft>
              <a:defRPr sz="1200">
                <a:solidFill>
                  <a:srgbClr val="A0A0A0"/>
                </a:solidFill>
              </a:defRPr>
            </a:pPr>
            <a:r>
              <a:t>  Item list dengan quantity</a:t>
            </a:r>
          </a:p>
          <a:p>
            <a:pPr>
              <a:spcAft>
                <a:spcPts val="800"/>
              </a:spcAft>
              <a:defRPr sz="1200">
                <a:solidFill>
                  <a:srgbClr val="A0A0A0"/>
                </a:solidFill>
              </a:defRPr>
            </a:pPr>
            <a:r>
              <a:t>  Remove/update quantity</a:t>
            </a:r>
          </a:p>
          <a:p>
            <a:pPr>
              <a:spcAft>
                <a:spcPts val="800"/>
              </a:spcAft>
              <a:defRPr sz="1200">
                <a:solidFill>
                  <a:srgbClr val="A0A0A0"/>
                </a:solidFill>
              </a:defRPr>
            </a:pPr>
            <a:r>
              <a:t>  Subtotal calculation</a:t>
            </a:r>
          </a:p>
          <a:p>
            <a:pPr>
              <a:spcAft>
                <a:spcPts val="800"/>
              </a:spcAft>
              <a:defRPr sz="1200">
                <a:solidFill>
                  <a:srgbClr val="A0A0A0"/>
                </a:solidFill>
              </a:defRPr>
            </a:pPr>
            <a:r>
              <a:t>  Checkout button</a:t>
            </a:r>
          </a:p>
          <a:p>
            <a:pPr>
              <a:spcAft>
                <a:spcPts val="800"/>
              </a:spcAft>
              <a:defRPr sz="1200">
                <a:solidFill>
                  <a:srgbClr val="A0A0A0"/>
                </a:solidFill>
              </a:defRPr>
            </a:pPr>
            <a:r>
              <a:t>  Empty state handling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C9A962"/>
                </a:solidFill>
              </a:defRPr>
            </a:pPr>
            <a:r>
              <a:t>Wallet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Supported Wallets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737360"/>
          <a:ext cx="54864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3810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C9A962"/>
                          </a:solidFill>
                        </a:defRPr>
                      </a:pPr>
                      <a:r>
                        <a:t>Wallet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C9A962"/>
                          </a:solidFill>
                        </a:defRPr>
                      </a:pPr>
                      <a:r>
                        <a:t>Adapter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C9A962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Phantom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PhantomWalletAdapter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Primary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Solflare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SolflareWalletAdapter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Supported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Coinbase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CoinbaseWalletAdapter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Supported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Ledger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LedgerWalletAdapter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Supported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Torus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TorusWalletAdapter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Supported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0" y="12801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Connection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173736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A0A0A0"/>
                </a:solidFill>
              </a:defRPr>
            </a:pPr>
            <a:r>
              <a:t>  1. User clicks 'Connect Wallet'</a:t>
            </a:r>
          </a:p>
          <a:p>
            <a:pPr>
              <a:spcAft>
                <a:spcPts val="800"/>
              </a:spcAft>
              <a:defRPr sz="1400">
                <a:solidFill>
                  <a:srgbClr val="A0A0A0"/>
                </a:solidFill>
              </a:defRPr>
            </a:pPr>
            <a:r>
              <a:t>  2. Wallet modal opens</a:t>
            </a:r>
          </a:p>
          <a:p>
            <a:pPr>
              <a:spcAft>
                <a:spcPts val="800"/>
              </a:spcAft>
              <a:defRPr sz="1400">
                <a:solidFill>
                  <a:srgbClr val="A0A0A0"/>
                </a:solidFill>
              </a:defRPr>
            </a:pPr>
            <a:r>
              <a:t>  3. User selects wallet</a:t>
            </a:r>
          </a:p>
          <a:p>
            <a:pPr>
              <a:spcAft>
                <a:spcPts val="800"/>
              </a:spcAft>
              <a:defRPr sz="1400">
                <a:solidFill>
                  <a:srgbClr val="A0A0A0"/>
                </a:solidFill>
              </a:defRPr>
            </a:pPr>
            <a:r>
              <a:t>  4. Browser extension prompts approval</a:t>
            </a:r>
          </a:p>
          <a:p>
            <a:pPr>
              <a:spcAft>
                <a:spcPts val="800"/>
              </a:spcAft>
              <a:defRPr sz="1400">
                <a:solidFill>
                  <a:srgbClr val="A0A0A0"/>
                </a:solidFill>
              </a:defRPr>
            </a:pPr>
            <a:r>
              <a:t>  5. Connection established</a:t>
            </a:r>
          </a:p>
          <a:p>
            <a:pPr>
              <a:spcAft>
                <a:spcPts val="800"/>
              </a:spcAft>
              <a:defRPr sz="1400">
                <a:solidFill>
                  <a:srgbClr val="A0A0A0"/>
                </a:solidFill>
              </a:defRPr>
            </a:pPr>
            <a:r>
              <a:t>  6. Display: Address + SOL balance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206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State Management: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66344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Courier New"/>
              </a:defRPr>
            </a:pPr>
            <a:r>
              <a:t>interface WalletState {</a:t>
            </a:r>
          </a:p>
          <a:p>
            <a:pPr>
              <a:defRPr sz="1100">
                <a:solidFill>
                  <a:srgbClr val="FFFFFF"/>
                </a:solidFill>
                <a:latin typeface="Courier New"/>
              </a:defRPr>
            </a:pPr>
            <a:r>
              <a:t>  connected: boolean;      // Connection status</a:t>
            </a:r>
          </a:p>
          <a:p>
            <a:pPr>
              <a:defRPr sz="1100">
                <a:solidFill>
                  <a:srgbClr val="FFFFFF"/>
                </a:solidFill>
                <a:latin typeface="Courier New"/>
              </a:defRPr>
            </a:pPr>
            <a:r>
              <a:t>  publicKey: string | null; // Wallet address</a:t>
            </a:r>
          </a:p>
          <a:p>
            <a:pPr>
              <a:defRPr sz="1100">
                <a:solidFill>
                  <a:srgbClr val="FFFFFF"/>
                </a:solidFill>
                <a:latin typeface="Courier New"/>
              </a:defRPr>
            </a:pPr>
            <a:r>
              <a:t>  balance: number | null;    // SOL balance</a:t>
            </a:r>
          </a:p>
          <a:p>
            <a:pPr>
              <a:defRPr sz="1100">
                <a:solidFill>
                  <a:srgbClr val="FFFFFF"/>
                </a:solidFill>
                <a:latin typeface="Courier New"/>
              </a:defRPr>
            </a:pPr>
            <a:r>
              <a:t>  connecting: boolean;      // Loading state</a:t>
            </a:r>
          </a:p>
          <a:p>
            <a:pPr>
              <a:defRPr sz="1100">
                <a:solidFill>
                  <a:srgbClr val="FFFFFF"/>
                </a:solidFill>
                <a:latin typeface="Courier New"/>
              </a:defRPr>
            </a:pPr>
            <a:r>
              <a:t>  error: string | null;      // Error message</a:t>
            </a:r>
          </a:p>
          <a:p>
            <a:pPr>
              <a:defRPr sz="1100">
                <a:solidFill>
                  <a:srgbClr val="FFFFFF"/>
                </a:solidFill>
                <a:latin typeface="Courier New"/>
              </a:defRPr>
            </a:pPr>
            <a: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42062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Balance Fetching: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466344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A0A0A0"/>
                </a:solidFill>
              </a:defRPr>
            </a:pPr>
            <a:r>
              <a:t>  RPC: api.mainnet-beta.solana.com</a:t>
            </a:r>
          </a:p>
          <a:p>
            <a:pPr>
              <a:spcAft>
                <a:spcPts val="800"/>
              </a:spcAft>
              <a:defRPr sz="1400">
                <a:solidFill>
                  <a:srgbClr val="A0A0A0"/>
                </a:solidFill>
              </a:defRPr>
            </a:pPr>
            <a:r>
              <a:t>  Auto-refresh: 30 seconds</a:t>
            </a:r>
          </a:p>
          <a:p>
            <a:pPr>
              <a:spcAft>
                <a:spcPts val="800"/>
              </a:spcAft>
              <a:defRPr sz="1400">
                <a:solidFill>
                  <a:srgbClr val="A0A0A0"/>
                </a:solidFill>
              </a:defRPr>
            </a:pPr>
            <a:r>
              <a:t>  Display: X.XX SOL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C9A962"/>
                </a:solidFill>
              </a:defRPr>
            </a:pPr>
            <a:r>
              <a:t>Product Catalog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80160"/>
          <a:ext cx="109728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332509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C9A962"/>
                          </a:solidFill>
                        </a:defRPr>
                      </a:pPr>
                      <a:r>
                        <a:t>Brand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C9A962"/>
                          </a:solidFill>
                        </a:defRPr>
                      </a:pPr>
                      <a:r>
                        <a:t>Product Name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C9A962"/>
                          </a:solidFill>
                        </a:defRPr>
                      </a:pPr>
                      <a:r>
                        <a:t>Price (SOL)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C9A962"/>
                          </a:solidFill>
                        </a:defRPr>
                      </a:pPr>
                      <a:r>
                        <a:t>Price (USD)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C9A962"/>
                          </a:solidFill>
                        </a:defRPr>
                      </a:pPr>
                      <a:r>
                        <a:t>Stock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  <a:tr h="332509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Hermes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Birkin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~$27,000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</a:tr>
              <a:tr h="332509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Hermes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Kelly 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~$22,500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</a:tr>
              <a:tr h="332509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Chanel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Classic Flap Bag 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~$18,000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</a:tr>
              <a:tr h="332509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Dior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Lady Dior 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~$14,250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</a:tr>
              <a:tr h="332509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Louis Vuitton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Neverfull 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~$7,800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</a:tr>
              <a:tr h="332509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Gucci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Dionysus GG Supercenter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~$8,250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</a:tr>
              <a:tr h="332509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Louis Vuitton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Alma BB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~$7,200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</a:tr>
              <a:tr h="332509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Gucci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GG Marmont Small Shoulder Bag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~$6,750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</a:tr>
              <a:tr h="332509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Balenciaga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Le Cagole XS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~$6,300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</a:tr>
              <a:tr h="33251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Prada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Re-Edition 2005 Saffiano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~$5,700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1206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Product Attributes: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A0"/>
                </a:solidFill>
              </a:defRPr>
            </a:pPr>
            <a:r>
              <a:t>id, brand, name, description, price, priceUSD, image, images, stock, condition, category, featured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C9A962"/>
                </a:solidFill>
              </a:defRPr>
            </a:pPr>
            <a:r>
              <a:t>Checkout 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3657600" cy="2286000"/>
          </a:xfrm>
          <a:prstGeom prst="roundRect">
            <a:avLst/>
          </a:prstGeom>
          <a:solidFill>
            <a:srgbClr val="1A1A1A"/>
          </a:solidFill>
          <a:ln>
            <a:solidFill>
              <a:srgbClr val="C9A9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9A962"/>
                </a:solidFill>
              </a:defRPr>
            </a:pPr>
            <a:r>
              <a:t>STEP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Cart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A0"/>
                </a:solidFill>
              </a:defRPr>
            </a:pPr>
            <a:r>
              <a:t>- View cart items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517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A0"/>
                </a:solidFill>
              </a:defRPr>
            </a:pPr>
            <a:r>
              <a:t>- Adjust quantities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175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A0"/>
                </a:solidFill>
              </a:defRPr>
            </a:pPr>
            <a:r>
              <a:t>- See subtotal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371600"/>
            <a:ext cx="3657600" cy="2286000"/>
          </a:xfrm>
          <a:prstGeom prst="roundRect">
            <a:avLst/>
          </a:prstGeom>
          <a:solidFill>
            <a:srgbClr val="1A1A1A"/>
          </a:solidFill>
          <a:ln>
            <a:solidFill>
              <a:srgbClr val="C9A9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4630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9A962"/>
                </a:solidFill>
              </a:defRPr>
            </a:pPr>
            <a:r>
              <a:t>STEP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18288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Shipping Information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2860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A0"/>
                </a:solidFill>
              </a:defRPr>
            </a:pPr>
            <a:r>
              <a:t>- Full Name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6517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A0"/>
                </a:solidFill>
              </a:defRPr>
            </a:pPr>
            <a:r>
              <a:t>- Email Address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30175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A0"/>
                </a:solidFill>
              </a:defRPr>
            </a:pPr>
            <a:r>
              <a:t>- Phone Number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371600"/>
            <a:ext cx="3657600" cy="2286000"/>
          </a:xfrm>
          <a:prstGeom prst="roundRect">
            <a:avLst/>
          </a:prstGeom>
          <a:solidFill>
            <a:srgbClr val="1A1A1A"/>
          </a:solidFill>
          <a:ln>
            <a:solidFill>
              <a:srgbClr val="C9A9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4630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9A962"/>
                </a:solidFill>
              </a:defRPr>
            </a:pPr>
            <a:r>
              <a:t>STEP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18288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Wallet Connection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2860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A0"/>
                </a:solidFill>
              </a:defRPr>
            </a:pPr>
            <a:r>
              <a:t>- Connect wallet if not connected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26517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A0"/>
                </a:solidFill>
              </a:defRPr>
            </a:pPr>
            <a:r>
              <a:t>- Verify SOL balance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30175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A0"/>
                </a:solidFill>
              </a:defRPr>
            </a:pPr>
            <a:r>
              <a:t>- Confirm transaction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931920"/>
            <a:ext cx="3657600" cy="2286000"/>
          </a:xfrm>
          <a:prstGeom prst="roundRect">
            <a:avLst/>
          </a:prstGeom>
          <a:solidFill>
            <a:srgbClr val="1A1A1A"/>
          </a:solidFill>
          <a:ln>
            <a:solidFill>
              <a:srgbClr val="C9A9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023359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9A962"/>
                </a:solidFill>
              </a:defRPr>
            </a:pPr>
            <a:r>
              <a:t>STEP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3891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Transaction Simulation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8463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A0"/>
                </a:solidFill>
              </a:defRPr>
            </a:pPr>
            <a:r>
              <a:t>- Sign transaction (wallet prompt)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2120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A0"/>
                </a:solidFill>
              </a:defRPr>
            </a:pPr>
            <a:r>
              <a:t>- Wait for confirmation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5778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A0"/>
                </a:solidFill>
              </a:defRPr>
            </a:pPr>
            <a:r>
              <a:t>- Generate mock signature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97680" y="3931920"/>
            <a:ext cx="3657600" cy="2286000"/>
          </a:xfrm>
          <a:prstGeom prst="roundRect">
            <a:avLst/>
          </a:prstGeom>
          <a:solidFill>
            <a:srgbClr val="1A1A1A"/>
          </a:solidFill>
          <a:ln>
            <a:solidFill>
              <a:srgbClr val="C9A9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80560" y="4023359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9A962"/>
                </a:solidFill>
              </a:defRPr>
            </a:pPr>
            <a:r>
              <a:t>STEP 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43891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Order Confirmation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0560" y="48463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A0"/>
                </a:solidFill>
              </a:defRPr>
            </a:pPr>
            <a:r>
              <a:t>- Success animation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52120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A0"/>
                </a:solidFill>
              </a:defRPr>
            </a:pPr>
            <a:r>
              <a:t>- Order summary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0" y="55778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A0"/>
                </a:solidFill>
              </a:defRPr>
            </a:pPr>
            <a:r>
              <a:t>- Transaction hash display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C9A962"/>
                </a:solidFill>
              </a:defRPr>
            </a:pPr>
            <a:r>
              <a:t>Responsive Design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80160"/>
          <a:ext cx="45720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/>
                <a:gridCol w="1524000"/>
                <a:gridCol w="1524000"/>
              </a:tblGrid>
              <a:tr h="41148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C9A962"/>
                          </a:solidFill>
                        </a:defRPr>
                      </a:pPr>
                      <a:r>
                        <a:t>Breakpoint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C9A962"/>
                          </a:solidFill>
                        </a:defRPr>
                      </a:pPr>
                      <a:r>
                        <a:t>Screen Size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C9A962"/>
                          </a:solidFill>
                        </a:defRPr>
                      </a:pPr>
                      <a:r>
                        <a:t>Columns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Mobile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&lt; 640px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1 column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Tablet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640px - 1024px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2 columns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Desktop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&gt; 1024px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4 columns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0" y="12801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Mobile Optimizations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173736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A0A0A0"/>
                </a:solidFill>
              </a:defRPr>
            </a:pPr>
            <a:r>
              <a:t>  Header: Hamburger menu</a:t>
            </a:r>
          </a:p>
          <a:p>
            <a:pPr>
              <a:spcAft>
                <a:spcPts val="800"/>
              </a:spcAft>
              <a:defRPr sz="1400">
                <a:solidFill>
                  <a:srgbClr val="A0A0A0"/>
                </a:solidFill>
              </a:defRPr>
            </a:pPr>
            <a:r>
              <a:t>  Collapsible cart</a:t>
            </a:r>
          </a:p>
          <a:p>
            <a:pPr>
              <a:spcAft>
                <a:spcPts val="800"/>
              </a:spcAft>
              <a:defRPr sz="1400">
                <a:solidFill>
                  <a:srgbClr val="A0A0A0"/>
                </a:solidFill>
              </a:defRPr>
            </a:pPr>
            <a:r>
              <a:t>  Compact wallet button</a:t>
            </a:r>
          </a:p>
          <a:p>
            <a:pPr>
              <a:spcAft>
                <a:spcPts val="800"/>
              </a:spcAft>
              <a:defRPr sz="1400">
                <a:solidFill>
                  <a:srgbClr val="A0A0A0"/>
                </a:solidFill>
              </a:defRPr>
            </a:pPr>
            <a:r>
              <a:t>  Product Grid: Single column</a:t>
            </a:r>
          </a:p>
          <a:p>
            <a:pPr>
              <a:spcAft>
                <a:spcPts val="800"/>
              </a:spcAft>
              <a:defRPr sz="1400">
                <a:solidFill>
                  <a:srgbClr val="A0A0A0"/>
                </a:solidFill>
              </a:defRPr>
            </a:pPr>
            <a:r>
              <a:t>  Touch-friendly tap targets</a:t>
            </a:r>
          </a:p>
          <a:p>
            <a:pPr>
              <a:spcAft>
                <a:spcPts val="800"/>
              </a:spcAft>
              <a:defRPr sz="1400">
                <a:solidFill>
                  <a:srgbClr val="A0A0A0"/>
                </a:solidFill>
              </a:defRPr>
            </a:pPr>
            <a:r>
              <a:t>  Full-screen cart drawer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Animation Adaptations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65760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A0A0A0"/>
                </a:solidFill>
              </a:defRPr>
            </a:pPr>
            <a:r>
              <a:t>  Reduced motion for performance</a:t>
            </a:r>
          </a:p>
          <a:p>
            <a:pPr>
              <a:spcAft>
                <a:spcPts val="800"/>
              </a:spcAft>
              <a:defRPr sz="1400">
                <a:solidFill>
                  <a:srgbClr val="A0A0A0"/>
                </a:solidFill>
              </a:defRPr>
            </a:pPr>
            <a:r>
              <a:t>  GPU-accelerated transforms</a:t>
            </a:r>
          </a:p>
          <a:p>
            <a:pPr>
              <a:spcAft>
                <a:spcPts val="800"/>
              </a:spcAft>
              <a:defRPr sz="1400">
                <a:solidFill>
                  <a:srgbClr val="A0A0A0"/>
                </a:solidFill>
              </a:defRPr>
            </a:pPr>
            <a:r>
              <a:t>  60fps target on all devices</a:t>
            </a:r>
          </a:p>
          <a:p>
            <a:pPr>
              <a:spcAft>
                <a:spcPts val="800"/>
              </a:spcAft>
              <a:defRPr sz="1400">
                <a:solidFill>
                  <a:srgbClr val="A0A0A0"/>
                </a:solidFill>
              </a:defRPr>
            </a:pPr>
            <a:r>
              <a:t>  Smooth scroll transitions</a:t>
            </a:r>
          </a:p>
          <a:p>
            <a:pPr>
              <a:spcAft>
                <a:spcPts val="800"/>
              </a:spcAft>
              <a:defRPr sz="1400">
                <a:solidFill>
                  <a:srgbClr val="A0A0A0"/>
                </a:solidFill>
              </a:defRPr>
            </a:pPr>
            <a:r>
              <a:t>  Hover effects disabled on touch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32004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Typography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36576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A0A0A0"/>
                </a:solidFill>
              </a:defRPr>
            </a:pPr>
            <a:r>
              <a:t>  Scaled font sizes</a:t>
            </a:r>
          </a:p>
          <a:p>
            <a:pPr>
              <a:spcAft>
                <a:spcPts val="800"/>
              </a:spcAft>
              <a:defRPr sz="1400">
                <a:solidFill>
                  <a:srgbClr val="A0A0A0"/>
                </a:solidFill>
              </a:defRPr>
            </a:pPr>
            <a:r>
              <a:t>  Appropriate line heights</a:t>
            </a:r>
          </a:p>
          <a:p>
            <a:pPr>
              <a:spcAft>
                <a:spcPts val="800"/>
              </a:spcAft>
              <a:defRPr sz="1400">
                <a:solidFill>
                  <a:srgbClr val="A0A0A0"/>
                </a:solidFill>
              </a:defRPr>
            </a:pPr>
            <a:r>
              <a:t>  Readable on small screens</a:t>
            </a:r>
          </a:p>
          <a:p>
            <a:pPr>
              <a:spcAft>
                <a:spcPts val="800"/>
              </a:spcAft>
              <a:defRPr sz="1400">
                <a:solidFill>
                  <a:srgbClr val="A0A0A0"/>
                </a:solidFill>
              </a:defRPr>
            </a:pPr>
            <a:r>
              <a:t>  Monospace for prices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C9A962"/>
                </a:solidFill>
              </a:defRPr>
            </a:pPr>
            <a:r>
              <a:t>Deployment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1371600"/>
            <a:ext cx="9418320" cy="731520"/>
          </a:xfrm>
          <a:prstGeom prst="round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0D0D0D"/>
                </a:solidFill>
              </a:defRPr>
            </a:pPr>
            <a:r>
              <a:t>Live URL: https://nvstore-exclusive.vercel.app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3774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Build Configuration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2834640"/>
          <a:ext cx="45720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</a:tblGrid>
              <a:tr h="33528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C9A962"/>
                          </a:solidFill>
                        </a:defRPr>
                      </a:pPr>
                      <a:r>
                        <a:t>Setting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C9A962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Build Command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npm run build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Output Directory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Next.js default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Runtime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Node.js 18+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Washington D.C. (iad1)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Build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~47 seconds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0" y="23774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GitHub Integration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2834640"/>
            <a:ext cx="5486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A0A0A0"/>
                </a:solidFill>
              </a:defRPr>
            </a:pPr>
            <a:r>
              <a:t>  Repository: Noviftrny26/NVStore-Exclusive-</a:t>
            </a:r>
          </a:p>
          <a:p>
            <a:pPr>
              <a:spcAft>
                <a:spcPts val="800"/>
              </a:spcAft>
              <a:defRPr sz="1400">
                <a:solidFill>
                  <a:srgbClr val="A0A0A0"/>
                </a:solidFill>
              </a:defRPr>
            </a:pPr>
            <a:r>
              <a:t>  Branch: main</a:t>
            </a:r>
          </a:p>
          <a:p>
            <a:pPr>
              <a:spcAft>
                <a:spcPts val="800"/>
              </a:spcAft>
              <a:defRPr sz="1400">
                <a:solidFill>
                  <a:srgbClr val="A0A0A0"/>
                </a:solidFill>
              </a:defRPr>
            </a:pPr>
            <a:r>
              <a:t>  Auto-deploy: On every push</a:t>
            </a:r>
          </a:p>
          <a:p>
            <a:pPr>
              <a:spcAft>
                <a:spcPts val="800"/>
              </a:spcAft>
              <a:defRPr sz="1400">
                <a:solidFill>
                  <a:srgbClr val="A0A0A0"/>
                </a:solidFill>
              </a:defRPr>
            </a:pPr>
            <a:r>
              <a:t>  Preview deployments: Enabled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45720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Vercel Features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50292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A0A0A0"/>
                </a:solidFill>
              </a:defRPr>
            </a:pPr>
            <a:r>
              <a:t>  Automatic HTTPS/SSL</a:t>
            </a:r>
          </a:p>
          <a:p>
            <a:pPr>
              <a:spcAft>
                <a:spcPts val="800"/>
              </a:spcAft>
              <a:defRPr sz="1400">
                <a:solidFill>
                  <a:srgbClr val="A0A0A0"/>
                </a:solidFill>
              </a:defRPr>
            </a:pPr>
            <a:r>
              <a:t>  Edge Network (Global CDN)</a:t>
            </a:r>
          </a:p>
          <a:p>
            <a:pPr>
              <a:spcAft>
                <a:spcPts val="800"/>
              </a:spcAft>
              <a:defRPr sz="1400">
                <a:solidFill>
                  <a:srgbClr val="A0A0A0"/>
                </a:solidFill>
              </a:defRPr>
            </a:pPr>
            <a:r>
              <a:t>  Preview Deployments</a:t>
            </a:r>
          </a:p>
          <a:p>
            <a:pPr>
              <a:spcAft>
                <a:spcPts val="800"/>
              </a:spcAft>
              <a:defRPr sz="1400">
                <a:solidFill>
                  <a:srgbClr val="A0A0A0"/>
                </a:solidFill>
              </a:defRPr>
            </a:pPr>
            <a:r>
              <a:t>  Environment Variables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C9A962"/>
                </a:solidFill>
              </a:defRPr>
            </a:pPr>
            <a:r>
              <a:t>Future Enhancements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Short-term (Q3 2026)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737360"/>
          <a:ext cx="50292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400"/>
                <a:gridCol w="1676400"/>
                <a:gridCol w="1676400"/>
              </a:tblGrid>
              <a:tr h="33528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C9A962"/>
                          </a:solidFill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C9A962"/>
                          </a:solidFill>
                        </a:defRPr>
                      </a:pPr>
                      <a:r>
                        <a:t>Priority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C9A962"/>
                          </a:solidFill>
                        </a:defRPr>
                      </a:pPr>
                      <a:r>
                        <a:t>Complexity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Real transaction signing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NFT-based ownership certificate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User authentication (Web3Auth)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Order history tracking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Wishlist functionality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Low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0" y="12801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Long-term (Q4 2026)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0" y="1737360"/>
          <a:ext cx="53035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7840"/>
                <a:gridCol w="1767840"/>
                <a:gridCol w="1767840"/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C9A962"/>
                          </a:solidFill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C9A962"/>
                          </a:solidFill>
                        </a:defRPr>
                      </a:pPr>
                      <a:r>
                        <a:t>Priority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C9A962"/>
                          </a:solidFill>
                        </a:defRPr>
                      </a:pPr>
                      <a:r>
                        <a:t>Complexity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Multi-chain support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IPFS storage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DAO governance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Very High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React Native 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Very High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3931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Technical Improvements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8912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A0A0A0"/>
                </a:solidFill>
              </a:defRPr>
            </a:pPr>
            <a:r>
              <a:t>  Upgrade to Next.js 15</a:t>
            </a:r>
          </a:p>
          <a:p>
            <a:pPr>
              <a:spcAft>
                <a:spcPts val="800"/>
              </a:spcAft>
              <a:defRPr sz="1400">
                <a:solidFill>
                  <a:srgbClr val="A0A0A0"/>
                </a:solidFill>
              </a:defRPr>
            </a:pPr>
            <a:r>
              <a:t>  Unit tests (Jest/Vitest)</a:t>
            </a:r>
          </a:p>
          <a:p>
            <a:pPr>
              <a:spcAft>
                <a:spcPts val="800"/>
              </a:spcAft>
              <a:defRPr sz="1400">
                <a:solidFill>
                  <a:srgbClr val="A0A0A0"/>
                </a:solidFill>
              </a:defRPr>
            </a:pPr>
            <a:r>
              <a:t>  E2E testing (Playwright)</a:t>
            </a:r>
          </a:p>
          <a:p>
            <a:pPr>
              <a:spcAft>
                <a:spcPts val="800"/>
              </a:spcAft>
              <a:defRPr sz="1400">
                <a:solidFill>
                  <a:srgbClr val="A0A0A0"/>
                </a:solidFill>
              </a:defRPr>
            </a:pPr>
            <a:r>
              <a:t>  Analytics integration</a:t>
            </a:r>
          </a:p>
          <a:p>
            <a:pPr>
              <a:spcAft>
                <a:spcPts val="800"/>
              </a:spcAft>
              <a:defRPr sz="1400">
                <a:solidFill>
                  <a:srgbClr val="A0A0A0"/>
                </a:solidFill>
              </a:defRPr>
            </a:pPr>
            <a:r>
              <a:t>  SEO optimization</a:t>
            </a:r>
          </a:p>
          <a:p>
            <a:pPr>
              <a:spcAft>
                <a:spcPts val="800"/>
              </a:spcAft>
              <a:defRPr sz="1400">
                <a:solidFill>
                  <a:srgbClr val="A0A0A0"/>
                </a:solidFill>
              </a:defRPr>
            </a:pPr>
            <a:r>
              <a:t>  PWA support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3891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C9A962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NVStore Exclusive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0A0A0"/>
                </a:solidFill>
              </a:defRPr>
            </a:pPr>
            <a:r>
              <a:t>A modern Web3 e-commerce platform combining luxury fashion with blockchain technology.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60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Key Achievements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301752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Full-stack Next.js application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Multi-wallet Solana integration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Beautiful luxury dark theme UI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Complete shopping experience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Production deployment on Vercel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Responsive mobile-first design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0" y="4846320"/>
            <a:ext cx="8503920" cy="640080"/>
          </a:xfrm>
          <a:prstGeom prst="round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0D0D0D"/>
                </a:solidFill>
              </a:defRPr>
            </a:pPr>
            <a:r>
              <a:t>Live Demo: https://nvstore-exclusive.vercel.app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669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Contact &amp; Links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035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0A0A0"/>
                </a:solidFill>
              </a:defRPr>
            </a:pPr>
            <a:r>
              <a:t>GitHub: https://github.com/Noviftrny26/NVStore-Exclusive-  |  Owner: Noviftrny26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00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C9A962"/>
                </a:solidFill>
              </a:defRPr>
            </a:pPr>
            <a:r>
              <a:t>Thank you for your attention!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